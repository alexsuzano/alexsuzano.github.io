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2° Slide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Essa Ficha e os demais slides estarão disponíveis exclusivamente para a biblioteca virtual de projetos no US, e poderá ser acessado pelo público durante e após a apresentação do seu PITCH, com forma de conhecer seu Projeto mais a fundo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Orientações: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Mantenha a formatação (tamanho, fonte, cores, localização) de todos os itens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Inclua uma foto sua dentro do quadrado, priorize uma foto mais próxima do seu rosto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Se o seu nome for muito grande, priorize o primeiro e o ultimo nome.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Escreva as informações da tabela sem abreviações e coloque apenas as letras iniciais em maiúsculo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5. Sobre os impactos: diga quais foram os pontos fortes e benefícios do seu projeto (não ultrapasse as 2 linhas mencionadas acima)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6. Se você for fazer o Projeto em Dupla ou Trio, adicione um Slide como esse em cópia e preencha da mesma forma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1° Slide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Este Slide é o seu Guia. Você poderá apresentar apenas ele durante a Apresentação do seu Projeto, portanto fará seu PITCH embasado nele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Orientações iniciais:</a:t>
            </a: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t>Mantenha a formatação (tamanho, fonte, cores, localização) de todos os itens</a:t>
            </a: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t>Se possível priorize escrever palavras-chave ou frases curtas. Capriche para falar mais detalhes no seu Pitch</a:t>
            </a: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t>Se for incluir algum vídeo, coloque no canto esquerdo superior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410C-DEF2-4856-B12D-50B396811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388B2-6B8E-486A-A578-D6846D1DC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624CD-E3E4-4E24-856A-D1112286DC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7/23/2026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C994D-B39B-4D83-B038-F2220F06E8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B7A33-93A4-474E-A13C-505820602D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B418-3B7C-4FBF-90A9-3B9561A75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92EFB-38B6-433E-8964-0764C0D6B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0CB30-8C7F-48B7-8C7E-186A68B2E8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7/23/2026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A11D0-296E-4DDF-BDA5-3AB101D1CF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09B05-5790-4752-8A39-3F8F91DD37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636CC-2AC9-4A3C-AD27-48BD5110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C45FA-80D2-4122-A3A4-B60C947F4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6B4AC-3F26-4554-8066-BDD15F5FA3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7/23/2026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6745E-097D-4DE0-B4D5-5487F4040B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F4CFC-30AE-4B5D-8DBD-8E1E11459B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0BA9-8FC9-4B92-833C-5ADF03CF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78069-5EE8-40F2-8DC0-9B53CB1AB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F6726-976B-4B6A-9339-CF09BDE025E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ECB80-9228-4DE4-8DA3-7A3EE34765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7/23/2026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30D34-CC8F-4B89-ADF6-E28A1F44F5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BFB69-A047-44F7-8AB2-C07B396D59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6B99-8071-4B7D-9C2F-DC1BC6CAD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D63E2-9EE2-4E42-90CA-EB88DAA4A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6D872-94EE-41D2-9FDB-3B2C063AA0C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B28070-DB9A-4DFF-ACCB-DF5AB1BD564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1F1B8-6485-4A6C-A415-3524CAE7DF8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AA2703-FE72-43C9-81E5-30808F6BF0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7/23/2026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CAC78-59C2-47DB-9555-6DAA8A0752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05B725-40B1-4EAF-8164-BAEDC6CE6A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94B8-8F4F-4B2D-BE95-33F3994A2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26FE2-12DB-4107-94F4-93ED187BF3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7/23/2026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BC01D-2406-4826-96BE-155F634324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BFFC4-FE98-4608-9465-91B93871A9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1B6091-FE5E-4293-9341-1F7075FDE2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7/23/2026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E2C8D-6FAD-4792-A52D-9363F27444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8BB8A-9D14-4A11-8089-2C2A1279F6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C944-7235-4D8A-B478-CF4372D2A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C76CE-DF86-40B9-A516-12626539A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C84C8-D9EA-4249-95F7-D14582CEBA3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8BDF7-6288-4DFA-A222-9869483053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7/23/2026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41C42-C8B4-4CF9-B20F-29EDD5CF15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A14EF-FE89-4872-A67F-E396D599B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94751-C706-40D2-9A88-3BE4A7228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C3795-807A-4D39-9EC7-8D8E571D9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3E314-2945-40F9-8627-D1C8B315BE1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E437D-53F7-4441-ADB2-A8D3777FDEE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7/23/2026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D8857-C107-46C0-94E4-50FBA2CE5B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7ABE6-9369-4D34-B5ED-5070AC5A51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44349-6CFE-4E32-BD24-0BE2A3A3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C95FA-37FB-4B68-8B17-C27A58796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B50D1-0B5C-4BE0-960A-BAE0B1166F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7/23/2026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CC148-8E89-4926-A442-9244CC74B8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4E7AB-51C3-4569-9641-E1F68159A8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EC8CD-7C7F-4DB5-9FE0-B2719FF4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122AC-C5B0-4D8F-891F-0F1C8E097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FEA61-AD63-4D4D-B9E2-ECA88A4EF8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7/23/2026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F94BC-6138-4917-B542-5080E9F5CC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25756-D197-4B33-879F-76E26F0FA1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C40232-56AA-4547-A828-8E6B6C7FE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5F5EC-9809-456B-B5CD-CB4A4232B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2547C-9FB4-4CD7-9A7D-5D6AB8EDF00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t>7/23/2026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EDECF-71D9-481E-8880-CB9A2ABA4BE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BF5D7-350A-4478-AEA8-5094C6EBAD3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microsoft.com/office/2007/relationships/media" Target="../media/media2.mp4"/><Relationship Id="rId21" Type="http://schemas.openxmlformats.org/officeDocument/2006/relationships/image" Target="../media/image17.png"/><Relationship Id="rId7" Type="http://schemas.openxmlformats.org/officeDocument/2006/relationships/image" Target="../media/image1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4.png"/><Relationship Id="rId2" Type="http://schemas.openxmlformats.org/officeDocument/2006/relationships/video" Target="../media/media1.mp4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microsoft.com/office/2007/relationships/media" Target="../media/media1.mp4"/><Relationship Id="rId6" Type="http://schemas.openxmlformats.org/officeDocument/2006/relationships/notesSlide" Target="../notesSlides/notesSlide2.xml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video" Target="../media/media2.mp4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17A13D7-1CB6-825C-8CFB-2B26B02EB6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83FCC98-8839-A6B1-1AF2-A774AE1DA439}"/>
              </a:ext>
            </a:extLst>
          </p:cNvPr>
          <p:cNvSpPr>
            <a:spLocks noGrp="1"/>
          </p:cNvSpPr>
          <p:nvPr/>
        </p:nvSpPr>
        <p:spPr>
          <a:xfrm>
            <a:off x="159657" y="141514"/>
            <a:ext cx="11843657" cy="6574972"/>
          </a:xfrm>
          <a:prstGeom prst="roundRect">
            <a:avLst>
              <a:gd name="adj" fmla="val 23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2" name="Imagem 5"/>
          <p:cNvPicPr>
            <a:picLocks noChangeAspect="1"/>
          </p:cNvPicPr>
          <p:nvPr/>
        </p:nvPicPr>
        <p:blipFill rotWithShape="1">
          <a:blip r:embed="rId3"/>
          <a:srcRect l="50681" t="53124"/>
          <a:stretch/>
        </p:blipFill>
        <p:spPr>
          <a:xfrm rot="5400000">
            <a:off x="10137925" y="176939"/>
            <a:ext cx="2231011" cy="187713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FEE1BDE9-0F65-52C8-6462-C21BE72C3E7A}"/>
              </a:ext>
            </a:extLst>
          </p:cNvPr>
          <p:cNvSpPr>
            <a:spLocks noGrp="1"/>
          </p:cNvSpPr>
          <p:nvPr/>
        </p:nvSpPr>
        <p:spPr>
          <a:xfrm>
            <a:off x="397896" y="414352"/>
            <a:ext cx="10807377" cy="61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0" i="0" u="none" cap="none">
                <a:solidFill>
                  <a:srgbClr val="00CA50"/>
                </a:solidFill>
                <a:latin typeface="Suzano Unicase Medium"/>
                <a:ea typeface="Suzano Unicase Medium"/>
                <a:cs typeface="Suzano Unicase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</a:pPr>
            <a:r>
              <a:t>INFORMATION SHEET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AA2E980E-D242-405F-A643-829C24545F3E}"/>
              </a:ext>
            </a:extLst>
          </p:cNvPr>
          <p:cNvSpPr>
            <a:spLocks noGrp="1"/>
          </p:cNvSpPr>
          <p:nvPr/>
        </p:nvSpPr>
        <p:spPr>
          <a:xfrm>
            <a:off x="0" y="728420"/>
            <a:ext cx="397896" cy="0"/>
          </a:xfrm>
          <a:prstGeom prst="line">
            <a:avLst/>
          </a:prstGeom>
          <a:ln w="38100">
            <a:solidFill>
              <a:srgbClr val="00CA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5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0300" y="6175613"/>
            <a:ext cx="1459995" cy="507493"/>
          </a:xfrm>
          <a:prstGeom prst="rect">
            <a:avLst/>
          </a:prstGeom>
        </p:spPr>
      </p:pic>
      <p:pic>
        <p:nvPicPr>
          <p:cNvPr id="26" name="Imagem 9"/>
          <p:cNvPicPr>
            <a:picLocks noChangeAspect="1"/>
          </p:cNvPicPr>
          <p:nvPr/>
        </p:nvPicPr>
        <p:blipFill rotWithShape="1">
          <a:blip r:embed="rId3">
            <a:alphaModFix amt="70000"/>
          </a:blip>
          <a:srcRect t="10500" r="74444" b="50585"/>
          <a:stretch/>
        </p:blipFill>
        <p:spPr>
          <a:xfrm rot="5400000">
            <a:off x="249373" y="5175334"/>
            <a:ext cx="1433292" cy="1932040"/>
          </a:xfrm>
          <a:prstGeom prst="rect">
            <a:avLst/>
          </a:prstGeom>
        </p:spPr>
      </p:pic>
      <p:graphicFrame>
        <p:nvGraphicFramePr>
          <p:cNvPr id="27" name="Google Shape;170;p3"/>
          <p:cNvGraphicFramePr/>
          <p:nvPr>
            <p:extLst>
              <p:ext uri="{D42A27DB-BD31-4B8C-83A1-F6EECF244321}">
                <p14:modId xmlns:p14="http://schemas.microsoft.com/office/powerpoint/2010/main" val="18667840"/>
              </p:ext>
            </p:extLst>
          </p:nvPr>
        </p:nvGraphicFramePr>
        <p:xfrm>
          <a:off x="3879373" y="1446302"/>
          <a:ext cx="7733750" cy="4534655"/>
        </p:xfrm>
        <a:graphic>
          <a:graphicData uri="http://schemas.openxmlformats.org/drawingml/2006/table">
            <a:tbl>
              <a:tblPr firstRow="1" bandRow="1"/>
              <a:tblGrid>
                <a:gridCol w="27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1" u="none" cap="none">
                          <a:solidFill>
                            <a:schemeClr val="bg1"/>
                          </a:solidFill>
                          <a:latin typeface="Suzano Unicase XBold"/>
                          <a:ea typeface="Suzano Unicase XBold"/>
                          <a:cs typeface="Suzano Unicase XBold"/>
                        </a:rPr>
                        <a:t>location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  <a:solidFill>
                      <a:srgbClr val="002E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chemeClr val="bg1"/>
                          </a:solidFill>
                          <a:latin typeface="Suzano Text Light"/>
                          <a:ea typeface="Suzano Text Light"/>
                          <a:cs typeface="Suzano Text Light"/>
                        </a:rPr>
                        <a:t>Pine Bluff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  <a:solidFill>
                      <a:srgbClr val="002E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rgbClr val="00B74F"/>
                          </a:solidFill>
                          <a:latin typeface="Suzano Unicase XBold"/>
                          <a:ea typeface="Suzano Unicase XBold"/>
                          <a:cs typeface="Suzano Unicase XBold"/>
                        </a:rPr>
                        <a:t>Department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rgbClr val="002ECD"/>
                          </a:solidFill>
                          <a:latin typeface="Suzano Text Light"/>
                          <a:ea typeface="Suzano Text Light"/>
                          <a:cs typeface="Suzano Text Light"/>
                        </a:rPr>
                        <a:t>Process Control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rgbClr val="00B74F"/>
                          </a:solidFill>
                          <a:latin typeface="Suzano Unicase XBold"/>
                          <a:ea typeface="Suzano Unicase XBold"/>
                          <a:cs typeface="Suzano Unicase XBold"/>
                        </a:rPr>
                        <a:t>Area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i="0" u="none" cap="none">
                          <a:solidFill>
                            <a:srgbClr val="002ECD"/>
                          </a:solidFill>
                          <a:latin typeface="Suzano Text Light"/>
                          <a:ea typeface="Suzano Text Light"/>
                          <a:cs typeface="Suzano Text Light"/>
                        </a:rPr>
                        <a:t>Mill-Wide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i="0" u="none" cap="none">
                          <a:solidFill>
                            <a:srgbClr val="00B74F"/>
                          </a:solidFill>
                          <a:latin typeface="Suzano Unicase XBold"/>
                          <a:ea typeface="Suzano Unicase XBold"/>
                          <a:cs typeface="Suzano Unicase XBold"/>
                        </a:rPr>
                        <a:t>Project Name 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rgbClr val="002ECD"/>
                          </a:solidFill>
                          <a:latin typeface="Suzano Text Light"/>
                          <a:ea typeface="Suzano Text Light"/>
                          <a:cs typeface="Suzano Text Light"/>
                        </a:rPr>
                        <a:t>MillSight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i="0" u="none" cap="none">
                          <a:solidFill>
                            <a:srgbClr val="00B74F"/>
                          </a:solidFill>
                          <a:latin typeface="Suzano Unicase XBold"/>
                          <a:ea typeface="Suzano Unicase XBold"/>
                          <a:cs typeface="Suzano Unicase XBold"/>
                        </a:rPr>
                        <a:t>Project Period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rgbClr val="002ECD"/>
                          </a:solidFill>
                          <a:latin typeface="Suzano Text Light"/>
                          <a:ea typeface="Suzano Text Light"/>
                          <a:cs typeface="Suzano Text Light"/>
                        </a:rPr>
                        <a:t>May - July 2026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i="0" u="none" cap="none">
                          <a:solidFill>
                            <a:srgbClr val="00B74F"/>
                          </a:solidFill>
                          <a:latin typeface="Suzano Unicase XBold"/>
                          <a:ea typeface="Suzano Unicase XBold"/>
                          <a:cs typeface="Suzano Unicase XBold"/>
                        </a:rPr>
                        <a:t>Project Goal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rgbClr val="002ECD"/>
                          </a:solidFill>
                          <a:latin typeface="Suzano Text Light"/>
                          <a:ea typeface="Suzano Text Light"/>
                          <a:cs typeface="Suzano Text Light"/>
                        </a:rPr>
                        <a:t>Connect control logic, live PI, and Python simulation in one local AI interface.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i="0" u="none" cap="none">
                          <a:solidFill>
                            <a:srgbClr val="00B74F"/>
                          </a:solidFill>
                          <a:latin typeface="Suzano Unicase XBold"/>
                          <a:ea typeface="Suzano Unicase XBold"/>
                          <a:cs typeface="Suzano Unicase XBold"/>
                        </a:rPr>
                        <a:t>Results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u="none" cap="none">
                          <a:solidFill>
                            <a:srgbClr val="002ECD"/>
                          </a:solidFill>
                          <a:latin typeface="Suzano Text Light"/>
                          <a:ea typeface="Suzano Text Light"/>
                          <a:cs typeface="Suzano Text Light"/>
                        </a:rPr>
                        <a:t>Built a working PI-connected assistant with 6,996 logic canvases and 72,514 PI points.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12700" cmpd="sng">
                      <a:solidFill>
                        <a:srgbClr val="0072D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0" i="0" u="none" cap="none">
                          <a:solidFill>
                            <a:srgbClr val="00B74F"/>
                          </a:solidFill>
                          <a:latin typeface="Suzano Unicase XBold"/>
                          <a:ea typeface="Suzano Unicase XBold"/>
                          <a:cs typeface="Suzano Unicase XBold"/>
                        </a:rPr>
                        <a:t>Leader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0" u="none" cap="none">
                          <a:solidFill>
                            <a:srgbClr val="002ECD"/>
                          </a:solidFill>
                          <a:latin typeface="Suzano Text Light"/>
                          <a:ea typeface="Suzano Text Light"/>
                          <a:cs typeface="Suzano Text Light"/>
                        </a:rPr>
                        <a:t>Zachary Herald Smith</a:t>
                      </a:r>
                      <a:endParaRPr sz="1600" b="0" u="none" cap="none">
                        <a:solidFill>
                          <a:srgbClr val="002ECD"/>
                        </a:solidFill>
                        <a:latin typeface="Suzano Text Light"/>
                        <a:ea typeface="Suzano Text Light"/>
                        <a:cs typeface="Suzano Text Light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72D8"/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Google Shape;172;p3">
            <a:extLst>
              <a:ext uri="{FF2B5EF4-FFF2-40B4-BE49-F238E27FC236}">
                <a16:creationId xmlns:a16="http://schemas.microsoft.com/office/drawing/2014/main" id="{3AA49F0B-6A56-2B3D-FA7D-8DDB87EFEF4E}"/>
              </a:ext>
            </a:extLst>
          </p:cNvPr>
          <p:cNvSpPr>
            <a:spLocks noGrp="1"/>
          </p:cNvSpPr>
          <p:nvPr/>
        </p:nvSpPr>
        <p:spPr>
          <a:xfrm>
            <a:off x="838946" y="2016284"/>
            <a:ext cx="2002728" cy="2634770"/>
          </a:xfrm>
          <a:prstGeom prst="rect">
            <a:avLst/>
          </a:prstGeom>
          <a:noFill/>
          <a:ln w="38100" cmpd="sng">
            <a:solidFill>
              <a:srgbClr val="002ECD"/>
            </a:solidFill>
            <a:prstDash val="dash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73;p3">
            <a:extLst>
              <a:ext uri="{FF2B5EF4-FFF2-40B4-BE49-F238E27FC236}">
                <a16:creationId xmlns:a16="http://schemas.microsoft.com/office/drawing/2014/main" id="{CC4C4C8C-D624-9CED-F531-7A9BF1E83AC9}"/>
              </a:ext>
            </a:extLst>
          </p:cNvPr>
          <p:cNvSpPr>
            <a:spLocks noGrp="1"/>
          </p:cNvSpPr>
          <p:nvPr/>
        </p:nvSpPr>
        <p:spPr>
          <a:xfrm>
            <a:off x="708411" y="4869315"/>
            <a:ext cx="226379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B74F"/>
                </a:solidFill>
                <a:latin typeface="Suzano Unicase XBold"/>
                <a:ea typeface="Suzano Unicase XBold"/>
                <a:cs typeface="Suzano Unicase XBold"/>
              </a:rPr>
              <a:t>Alexander Grinman Rivera</a:t>
            </a:r>
          </a:p>
        </p:txBody>
      </p:sp>
      <p:sp>
        <p:nvSpPr>
          <p:cNvPr id="14" name="Google Shape;174;p3">
            <a:extLst>
              <a:ext uri="{FF2B5EF4-FFF2-40B4-BE49-F238E27FC236}">
                <a16:creationId xmlns:a16="http://schemas.microsoft.com/office/drawing/2014/main" id="{28754379-4103-C22D-A326-BEA28E6D438A}"/>
              </a:ext>
            </a:extLst>
          </p:cNvPr>
          <p:cNvSpPr>
            <a:spLocks noGrp="1"/>
          </p:cNvSpPr>
          <p:nvPr/>
        </p:nvSpPr>
        <p:spPr>
          <a:xfrm>
            <a:off x="953749" y="3741739"/>
            <a:ext cx="177312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" name="Imagem 15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55170" y="2303329"/>
            <a:ext cx="1370280" cy="1370280"/>
          </a:xfrm>
          <a:prstGeom prst="rect">
            <a:avLst/>
          </a:prstGeom>
        </p:spPr>
      </p:pic>
      <p:pic>
        <p:nvPicPr>
          <p:cNvPr id="6" name="MS_PERSISTENT_QR_SLIDE_1" descr="Scan for password-protected MillSight project materials">
            <a:extLst>
              <a:ext uri="{FF2B5EF4-FFF2-40B4-BE49-F238E27FC236}">
                <a16:creationId xmlns:a16="http://schemas.microsoft.com/office/drawing/2014/main" id="{C9B8D7A7-B1B9-0795-23B4-98788F414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648" y="182880"/>
            <a:ext cx="1060704" cy="1060704"/>
          </a:xfrm>
          <a:prstGeom prst="rect">
            <a:avLst/>
          </a:prstGeom>
        </p:spPr>
      </p:pic>
      <p:sp>
        <p:nvSpPr>
          <p:cNvPr id="9" name="MS_QR_PASSWORD_SLIDE_1">
            <a:extLst>
              <a:ext uri="{FF2B5EF4-FFF2-40B4-BE49-F238E27FC236}">
                <a16:creationId xmlns:a16="http://schemas.microsoft.com/office/drawing/2014/main" id="{F2045B98-D742-2C84-A3C6-EBA8756F4D9E}"/>
              </a:ext>
            </a:extLst>
          </p:cNvPr>
          <p:cNvSpPr txBox="1"/>
          <p:nvPr/>
        </p:nvSpPr>
        <p:spPr>
          <a:xfrm>
            <a:off x="6743700" y="598170"/>
            <a:ext cx="1905000" cy="23083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sz="1500" b="1">
                <a:solidFill>
                  <a:srgbClr val="0A35C7"/>
                </a:solidFill>
                <a:latin typeface="Suzano Text Light" panose="02010303030508060203" pitchFamily="2" charset="0"/>
              </a:rPr>
              <a:t>Password: suzano</a:t>
            </a:r>
          </a:p>
        </p:txBody>
      </p:sp>
    </p:spTree>
    <p:extLst>
      <p:ext uri="{BB962C8B-B14F-4D97-AF65-F5344CB8AC3E}">
        <p14:creationId xmlns:p14="http://schemas.microsoft.com/office/powerpoint/2010/main" val="6878142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3FCE2CC-3575-FC74-BEB2-C82FA0858B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42B1A8B-5B15-78F1-E285-226C1FC7FDE0}"/>
              </a:ext>
            </a:extLst>
          </p:cNvPr>
          <p:cNvSpPr>
            <a:spLocks noGrp="1"/>
          </p:cNvSpPr>
          <p:nvPr/>
        </p:nvSpPr>
        <p:spPr>
          <a:xfrm>
            <a:off x="159657" y="141514"/>
            <a:ext cx="11843657" cy="6574972"/>
          </a:xfrm>
          <a:prstGeom prst="roundRect">
            <a:avLst>
              <a:gd name="adj" fmla="val 23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7CD36F70-99D1-7EFC-D3DF-C78647810E10}"/>
              </a:ext>
            </a:extLst>
          </p:cNvPr>
          <p:cNvSpPr>
            <a:spLocks noGrp="1"/>
          </p:cNvSpPr>
          <p:nvPr/>
        </p:nvSpPr>
        <p:spPr>
          <a:xfrm>
            <a:off x="4580295" y="1971719"/>
            <a:ext cx="3110595" cy="3242226"/>
          </a:xfrm>
          <a:prstGeom prst="roundRect">
            <a:avLst>
              <a:gd name="adj" fmla="val 6324"/>
            </a:avLst>
          </a:prstGeom>
          <a:solidFill>
            <a:srgbClr val="002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DD88F563-A0FE-91AD-2CA9-B95C039CD401}"/>
              </a:ext>
            </a:extLst>
          </p:cNvPr>
          <p:cNvSpPr>
            <a:spLocks noGrp="1"/>
          </p:cNvSpPr>
          <p:nvPr/>
        </p:nvSpPr>
        <p:spPr>
          <a:xfrm>
            <a:off x="8117762" y="1971719"/>
            <a:ext cx="3110595" cy="3242226"/>
          </a:xfrm>
          <a:prstGeom prst="roundRect">
            <a:avLst>
              <a:gd name="adj" fmla="val 6324"/>
            </a:avLst>
          </a:prstGeom>
          <a:solidFill>
            <a:srgbClr val="002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5DB7F86E-80F8-D789-03AD-3EEDDBCFC8A8}"/>
              </a:ext>
            </a:extLst>
          </p:cNvPr>
          <p:cNvSpPr>
            <a:spLocks noGrp="1"/>
          </p:cNvSpPr>
          <p:nvPr/>
        </p:nvSpPr>
        <p:spPr>
          <a:xfrm>
            <a:off x="996428" y="1971719"/>
            <a:ext cx="3110595" cy="3242226"/>
          </a:xfrm>
          <a:prstGeom prst="roundRect">
            <a:avLst>
              <a:gd name="adj" fmla="val 6324"/>
            </a:avLst>
          </a:prstGeom>
          <a:solidFill>
            <a:srgbClr val="002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2" name="Imagem 5"/>
          <p:cNvPicPr>
            <a:picLocks noChangeAspect="1"/>
          </p:cNvPicPr>
          <p:nvPr/>
        </p:nvPicPr>
        <p:blipFill rotWithShape="1">
          <a:blip r:embed="rId7"/>
          <a:srcRect l="-5145" t="60999" r="32931"/>
          <a:stretch/>
        </p:blipFill>
        <p:spPr>
          <a:xfrm>
            <a:off x="8941061" y="-1"/>
            <a:ext cx="3266718" cy="1561777"/>
          </a:xfrm>
          <a:prstGeom prst="rect">
            <a:avLst/>
          </a:prstGeom>
        </p:spPr>
      </p:pic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7E43BD60-CC99-843F-3C75-062EDEE5ED11}"/>
              </a:ext>
            </a:extLst>
          </p:cNvPr>
          <p:cNvSpPr>
            <a:spLocks noGrp="1"/>
          </p:cNvSpPr>
          <p:nvPr/>
        </p:nvSpPr>
        <p:spPr>
          <a:xfrm>
            <a:off x="996428" y="2026671"/>
            <a:ext cx="3110595" cy="3242226"/>
          </a:xfrm>
          <a:prstGeom prst="roundRect">
            <a:avLst>
              <a:gd name="adj" fmla="val 6324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29E40B00-ECDF-8021-1DCD-26E22E8A8A76}"/>
              </a:ext>
            </a:extLst>
          </p:cNvPr>
          <p:cNvSpPr>
            <a:spLocks noGrp="1"/>
          </p:cNvSpPr>
          <p:nvPr/>
        </p:nvSpPr>
        <p:spPr>
          <a:xfrm>
            <a:off x="4576983" y="2026671"/>
            <a:ext cx="3110595" cy="3242226"/>
          </a:xfrm>
          <a:prstGeom prst="roundRect">
            <a:avLst>
              <a:gd name="adj" fmla="val 6324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48531CFA-BBBE-6BFB-3CA4-AD99F9903B6A}"/>
              </a:ext>
            </a:extLst>
          </p:cNvPr>
          <p:cNvSpPr>
            <a:spLocks noGrp="1"/>
          </p:cNvSpPr>
          <p:nvPr/>
        </p:nvSpPr>
        <p:spPr>
          <a:xfrm>
            <a:off x="8123217" y="2026671"/>
            <a:ext cx="3110595" cy="3242226"/>
          </a:xfrm>
          <a:prstGeom prst="roundRect">
            <a:avLst>
              <a:gd name="adj" fmla="val 6324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923F466E-A311-2FEB-78CA-927656F0403D}"/>
              </a:ext>
            </a:extLst>
          </p:cNvPr>
          <p:cNvSpPr>
            <a:spLocks noGrp="1"/>
          </p:cNvSpPr>
          <p:nvPr/>
        </p:nvSpPr>
        <p:spPr>
          <a:xfrm>
            <a:off x="1898446" y="1480317"/>
            <a:ext cx="1178798" cy="11787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C49C94EB-5A04-4835-E5F1-3C5CA3CB98DD}"/>
              </a:ext>
            </a:extLst>
          </p:cNvPr>
          <p:cNvSpPr>
            <a:spLocks noGrp="1"/>
          </p:cNvSpPr>
          <p:nvPr/>
        </p:nvSpPr>
        <p:spPr>
          <a:xfrm>
            <a:off x="5542881" y="1480317"/>
            <a:ext cx="1178798" cy="11787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FA46570D-D9F6-FD56-1AF4-C91895D80EEA}"/>
              </a:ext>
            </a:extLst>
          </p:cNvPr>
          <p:cNvSpPr>
            <a:spLocks noGrp="1"/>
          </p:cNvSpPr>
          <p:nvPr/>
        </p:nvSpPr>
        <p:spPr>
          <a:xfrm>
            <a:off x="9086349" y="1480317"/>
            <a:ext cx="1178798" cy="11787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tângulo: Cantos Superiores Arredondados 27">
            <a:extLst>
              <a:ext uri="{FF2B5EF4-FFF2-40B4-BE49-F238E27FC236}">
                <a16:creationId xmlns:a16="http://schemas.microsoft.com/office/drawing/2014/main" id="{DCD11F30-7C1B-59EE-BFFD-7FAB31679557}"/>
              </a:ext>
            </a:extLst>
          </p:cNvPr>
          <p:cNvSpPr>
            <a:spLocks noGrp="1"/>
          </p:cNvSpPr>
          <p:nvPr/>
        </p:nvSpPr>
        <p:spPr>
          <a:xfrm rot="10800000">
            <a:off x="159653" y="4926895"/>
            <a:ext cx="11843659" cy="1789588"/>
          </a:xfrm>
          <a:prstGeom prst="round2SameRect">
            <a:avLst>
              <a:gd name="adj1" fmla="val 8714"/>
              <a:gd name="adj2" fmla="val 0"/>
            </a:avLst>
          </a:prstGeom>
          <a:solidFill>
            <a:srgbClr val="EBE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0" name="Imagem 28"/>
          <p:cNvPicPr>
            <a:picLocks noChangeAspect="1"/>
          </p:cNvPicPr>
          <p:nvPr/>
        </p:nvPicPr>
        <p:blipFill rotWithShape="1">
          <a:blip r:embed="rId7">
            <a:alphaModFix amt="70000"/>
          </a:blip>
          <a:srcRect t="10500" r="74444" b="50585"/>
          <a:stretch/>
        </p:blipFill>
        <p:spPr>
          <a:xfrm rot="5400000">
            <a:off x="249373" y="5175334"/>
            <a:ext cx="1433292" cy="193204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64704D69-A4B6-2FDA-9E7D-5216112B65EE}"/>
              </a:ext>
            </a:extLst>
          </p:cNvPr>
          <p:cNvSpPr>
            <a:spLocks noGrp="1"/>
          </p:cNvSpPr>
          <p:nvPr/>
        </p:nvSpPr>
        <p:spPr>
          <a:xfrm>
            <a:off x="397896" y="414352"/>
            <a:ext cx="10807377" cy="61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0" i="0" u="none" cap="none">
                <a:solidFill>
                  <a:srgbClr val="00CA50"/>
                </a:solidFill>
                <a:latin typeface="Suzano Unicase Medium"/>
                <a:ea typeface="Suzano Unicase Medium"/>
                <a:cs typeface="Suzano Unicase Medium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</a:pPr>
            <a:r>
              <a:t>MillSight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EBD4DFFF-1A50-4710-A168-EE72BF80CA28}"/>
              </a:ext>
            </a:extLst>
          </p:cNvPr>
          <p:cNvSpPr>
            <a:spLocks noGrp="1"/>
          </p:cNvSpPr>
          <p:nvPr/>
        </p:nvSpPr>
        <p:spPr>
          <a:xfrm>
            <a:off x="0" y="728420"/>
            <a:ext cx="397896" cy="0"/>
          </a:xfrm>
          <a:prstGeom prst="line">
            <a:avLst/>
          </a:prstGeom>
          <a:ln w="38100">
            <a:solidFill>
              <a:srgbClr val="00CA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3" name="Imagem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2360" y="133257"/>
            <a:ext cx="1459995" cy="507493"/>
          </a:xfrm>
          <a:prstGeom prst="rect">
            <a:avLst/>
          </a:prstGeom>
        </p:spPr>
      </p:pic>
      <p:sp>
        <p:nvSpPr>
          <p:cNvPr id="11" name="Google Shape;133;p2">
            <a:extLst>
              <a:ext uri="{FF2B5EF4-FFF2-40B4-BE49-F238E27FC236}">
                <a16:creationId xmlns:a16="http://schemas.microsoft.com/office/drawing/2014/main" id="{4B0BB313-BB87-4B9C-A612-1E5878BFE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896" y="967117"/>
            <a:ext cx="11738438" cy="50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00B74F"/>
                </a:solidFill>
                <a:latin typeface="Suzano Text Light"/>
                <a:ea typeface="Suzano Text Light"/>
                <a:cs typeface="Suzano Text Light"/>
              </a:rPr>
              <a:t>Alexander Grinman Rivera</a:t>
            </a:r>
          </a:p>
        </p:txBody>
      </p:sp>
      <p:sp>
        <p:nvSpPr>
          <p:cNvPr id="13" name="Google Shape;135;p2">
            <a:extLst>
              <a:ext uri="{FF2B5EF4-FFF2-40B4-BE49-F238E27FC236}">
                <a16:creationId xmlns:a16="http://schemas.microsoft.com/office/drawing/2014/main" id="{2AE17873-BF47-D873-6F4F-8C0962DB8934}"/>
              </a:ext>
            </a:extLst>
          </p:cNvPr>
          <p:cNvSpPr>
            <a:spLocks noGrp="1"/>
          </p:cNvSpPr>
          <p:nvPr/>
        </p:nvSpPr>
        <p:spPr>
          <a:xfrm>
            <a:off x="1679463" y="2626576"/>
            <a:ext cx="161676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0044B2"/>
                </a:solidFill>
                <a:latin typeface="Suzano Unicase XBold"/>
                <a:ea typeface="Suzano Unicase XBold"/>
                <a:cs typeface="Suzano Unicase XBold"/>
              </a:rPr>
              <a:t>SCENARIO</a:t>
            </a:r>
          </a:p>
        </p:txBody>
      </p:sp>
      <p:sp>
        <p:nvSpPr>
          <p:cNvPr id="14" name="Google Shape;136;p2">
            <a:extLst>
              <a:ext uri="{FF2B5EF4-FFF2-40B4-BE49-F238E27FC236}">
                <a16:creationId xmlns:a16="http://schemas.microsoft.com/office/drawing/2014/main" id="{4E7C27D1-243D-FC64-772C-2B751E8AC6E8}"/>
              </a:ext>
            </a:extLst>
          </p:cNvPr>
          <p:cNvSpPr>
            <a:spLocks noGrp="1"/>
          </p:cNvSpPr>
          <p:nvPr/>
        </p:nvSpPr>
        <p:spPr>
          <a:xfrm>
            <a:off x="996428" y="3059381"/>
            <a:ext cx="302676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Mill control logic data is split across APACS,</a:t>
            </a:r>
          </a:p>
          <a:p>
            <a:pPr algn="ctr">
              <a:buNone/>
            </a:pPr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Rockwell, PI, and documentation.</a:t>
            </a:r>
          </a:p>
          <a:p>
            <a:pPr algn="ctr">
              <a:buNone/>
            </a:pPr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Finding answers takes time.</a:t>
            </a:r>
          </a:p>
        </p:txBody>
      </p:sp>
      <p:sp>
        <p:nvSpPr>
          <p:cNvPr id="15" name="Google Shape;137;p2">
            <a:extLst>
              <a:ext uri="{FF2B5EF4-FFF2-40B4-BE49-F238E27FC236}">
                <a16:creationId xmlns:a16="http://schemas.microsoft.com/office/drawing/2014/main" id="{AB6197BD-C0A5-B0B6-0D7E-9BD2D087AED8}"/>
              </a:ext>
            </a:extLst>
          </p:cNvPr>
          <p:cNvSpPr>
            <a:spLocks noGrp="1"/>
          </p:cNvSpPr>
          <p:nvPr/>
        </p:nvSpPr>
        <p:spPr>
          <a:xfrm>
            <a:off x="241119" y="6020518"/>
            <a:ext cx="23252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0044B2"/>
                </a:solidFill>
                <a:latin typeface="Suzano Unicase XBold"/>
                <a:ea typeface="Suzano Unicase XBold"/>
                <a:cs typeface="Suzano Unicase XBold"/>
              </a:rPr>
              <a:t>RESULTS</a:t>
            </a:r>
          </a:p>
        </p:txBody>
      </p:sp>
      <p:sp>
        <p:nvSpPr>
          <p:cNvPr id="16" name="Google Shape;138;p2">
            <a:extLst>
              <a:ext uri="{FF2B5EF4-FFF2-40B4-BE49-F238E27FC236}">
                <a16:creationId xmlns:a16="http://schemas.microsoft.com/office/drawing/2014/main" id="{E4DE4AA4-7622-6C12-D781-8302298B9FE7}"/>
              </a:ext>
            </a:extLst>
          </p:cNvPr>
          <p:cNvSpPr>
            <a:spLocks noGrp="1"/>
          </p:cNvSpPr>
          <p:nvPr/>
        </p:nvSpPr>
        <p:spPr>
          <a:xfrm>
            <a:off x="5895915" y="6020518"/>
            <a:ext cx="23252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0044B2"/>
                </a:solidFill>
                <a:latin typeface="Suzano Unicase XBold"/>
                <a:ea typeface="Suzano Unicase XBold"/>
                <a:cs typeface="Suzano Unicase XBold"/>
              </a:rPr>
              <a:t>LEARNINGs</a:t>
            </a:r>
          </a:p>
        </p:txBody>
      </p:sp>
      <p:pic>
        <p:nvPicPr>
          <p:cNvPr id="69" name="Google Shape;141;p2"/>
          <p:cNvPicPr>
            <a:picLocks noChangeAspect="1"/>
          </p:cNvPicPr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45341" y="1596228"/>
            <a:ext cx="976787" cy="976787"/>
          </a:xfrm>
          <a:prstGeom prst="rect">
            <a:avLst/>
          </a:prstGeom>
          <a:ln>
            <a:noFill/>
          </a:ln>
        </p:spPr>
      </p:pic>
      <p:pic>
        <p:nvPicPr>
          <p:cNvPr id="70" name="Google Shape;142;p2"/>
          <p:cNvPicPr>
            <a:picLocks noChangeAspect="1"/>
          </p:cNvPicPr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9857" y="5067233"/>
            <a:ext cx="902546" cy="902546"/>
          </a:xfrm>
          <a:prstGeom prst="rect">
            <a:avLst/>
          </a:prstGeom>
          <a:ln>
            <a:noFill/>
          </a:ln>
        </p:spPr>
      </p:pic>
      <p:pic>
        <p:nvPicPr>
          <p:cNvPr id="71" name="Google Shape;143;p2"/>
          <p:cNvPicPr>
            <a:picLocks noChangeAspect="1"/>
          </p:cNvPicPr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09625" y="4964424"/>
            <a:ext cx="1052091" cy="1052091"/>
          </a:xfrm>
          <a:prstGeom prst="rect">
            <a:avLst/>
          </a:prstGeom>
          <a:ln>
            <a:noFill/>
          </a:ln>
        </p:spPr>
      </p:pic>
      <p:pic>
        <p:nvPicPr>
          <p:cNvPr id="72" name="Google Shape;144;p2"/>
          <p:cNvPicPr>
            <a:picLocks noChangeAspect="1"/>
          </p:cNvPicPr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098505" y="1684007"/>
            <a:ext cx="822609" cy="822609"/>
          </a:xfrm>
          <a:prstGeom prst="rect">
            <a:avLst/>
          </a:prstGeom>
          <a:ln>
            <a:noFill/>
          </a:ln>
        </p:spPr>
      </p:pic>
      <p:pic>
        <p:nvPicPr>
          <p:cNvPr id="73" name="Google Shape;145;p2"/>
          <p:cNvPicPr>
            <a:picLocks noChangeAspect="1"/>
          </p:cNvPicPr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346215" y="1606818"/>
            <a:ext cx="896942" cy="896942"/>
          </a:xfrm>
          <a:prstGeom prst="rect">
            <a:avLst/>
          </a:prstGeom>
          <a:ln>
            <a:noFill/>
          </a:ln>
        </p:spPr>
      </p:pic>
      <p:sp>
        <p:nvSpPr>
          <p:cNvPr id="22" name="Google Shape;159;p2">
            <a:extLst>
              <a:ext uri="{FF2B5EF4-FFF2-40B4-BE49-F238E27FC236}">
                <a16:creationId xmlns:a16="http://schemas.microsoft.com/office/drawing/2014/main" id="{4A4DEA32-C5C5-3472-3EE2-DD65F0AC7E6F}"/>
              </a:ext>
            </a:extLst>
          </p:cNvPr>
          <p:cNvSpPr>
            <a:spLocks noGrp="1"/>
          </p:cNvSpPr>
          <p:nvPr/>
        </p:nvSpPr>
        <p:spPr>
          <a:xfrm>
            <a:off x="5279571" y="2626576"/>
            <a:ext cx="17525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0044B2"/>
                </a:solidFill>
                <a:latin typeface="Suzano Unicase XBold"/>
                <a:ea typeface="Suzano Unicase XBold"/>
                <a:cs typeface="Suzano Unicase XBold"/>
              </a:rPr>
              <a:t>CHALLENGE</a:t>
            </a:r>
          </a:p>
        </p:txBody>
      </p:sp>
      <p:sp>
        <p:nvSpPr>
          <p:cNvPr id="23" name="Google Shape;160;p2">
            <a:extLst>
              <a:ext uri="{FF2B5EF4-FFF2-40B4-BE49-F238E27FC236}">
                <a16:creationId xmlns:a16="http://schemas.microsoft.com/office/drawing/2014/main" id="{AA1645F7-5BA4-8AC4-C156-C6E32BF8506B}"/>
              </a:ext>
            </a:extLst>
          </p:cNvPr>
          <p:cNvSpPr>
            <a:spLocks noGrp="1"/>
          </p:cNvSpPr>
          <p:nvPr/>
        </p:nvSpPr>
        <p:spPr>
          <a:xfrm>
            <a:off x="8870133" y="2626576"/>
            <a:ext cx="161676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0044B2"/>
                </a:solidFill>
                <a:latin typeface="Suzano Unicase XBold"/>
                <a:ea typeface="Suzano Unicase XBold"/>
                <a:cs typeface="Suzano Unicase XBold"/>
              </a:rPr>
              <a:t>PROPOSAL</a:t>
            </a:r>
          </a:p>
        </p:txBody>
      </p:sp>
      <p:sp>
        <p:nvSpPr>
          <p:cNvPr id="24" name="Google Shape;161;p2">
            <a:extLst>
              <a:ext uri="{FF2B5EF4-FFF2-40B4-BE49-F238E27FC236}">
                <a16:creationId xmlns:a16="http://schemas.microsoft.com/office/drawing/2014/main" id="{C6EDC530-498A-A40F-573B-381D8F1C290A}"/>
              </a:ext>
            </a:extLst>
          </p:cNvPr>
          <p:cNvSpPr>
            <a:spLocks noGrp="1"/>
          </p:cNvSpPr>
          <p:nvPr/>
        </p:nvSpPr>
        <p:spPr>
          <a:xfrm>
            <a:off x="4622794" y="3059381"/>
            <a:ext cx="3048006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ctr">
              <a:buNone/>
            </a:pPr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Recover legacy control logic.</a:t>
            </a:r>
          </a:p>
          <a:p>
            <a:pPr algn="ctr">
              <a:buNone/>
            </a:pPr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Connect it to live process data.</a:t>
            </a:r>
          </a:p>
          <a:p>
            <a:pPr algn="ctr">
              <a:buNone/>
            </a:pPr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Use the mill simulator to detect anomalies.</a:t>
            </a:r>
          </a:p>
        </p:txBody>
      </p:sp>
      <p:sp>
        <p:nvSpPr>
          <p:cNvPr id="25" name="Google Shape;162;p2">
            <a:extLst>
              <a:ext uri="{FF2B5EF4-FFF2-40B4-BE49-F238E27FC236}">
                <a16:creationId xmlns:a16="http://schemas.microsoft.com/office/drawing/2014/main" id="{D6939C52-B2CA-4340-0C4B-F89622A19CB2}"/>
              </a:ext>
            </a:extLst>
          </p:cNvPr>
          <p:cNvSpPr>
            <a:spLocks noGrp="1"/>
          </p:cNvSpPr>
          <p:nvPr/>
        </p:nvSpPr>
        <p:spPr>
          <a:xfrm>
            <a:off x="8231859" y="3059381"/>
            <a:ext cx="28824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ctr">
              <a:buNone/>
            </a:pPr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Local AI + digital twin.</a:t>
            </a:r>
          </a:p>
          <a:p>
            <a:pPr algn="ctr">
              <a:buNone/>
            </a:pPr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PI provides live evidence.</a:t>
            </a:r>
          </a:p>
          <a:p>
            <a:pPr algn="ctr">
              <a:buNone/>
            </a:pPr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Logic adds context.</a:t>
            </a:r>
          </a:p>
        </p:txBody>
      </p:sp>
      <p:sp>
        <p:nvSpPr>
          <p:cNvPr id="26" name="Google Shape;163;p2">
            <a:extLst>
              <a:ext uri="{FF2B5EF4-FFF2-40B4-BE49-F238E27FC236}">
                <a16:creationId xmlns:a16="http://schemas.microsoft.com/office/drawing/2014/main" id="{B2873367-965F-F06B-4743-0DAD7F5BEA45}"/>
              </a:ext>
            </a:extLst>
          </p:cNvPr>
          <p:cNvSpPr>
            <a:spLocks noGrp="1"/>
          </p:cNvSpPr>
          <p:nvPr/>
        </p:nvSpPr>
        <p:spPr>
          <a:xfrm>
            <a:off x="2655674" y="5232816"/>
            <a:ext cx="30917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spAutoFit/>
          </a:bodyPr>
          <a:lstStyle/>
          <a:p>
            <a:pPr>
              <a:buNone/>
            </a:pPr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Working product + live PI.</a:t>
            </a:r>
          </a:p>
          <a:p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6,996 canvases + 72,514 PI points.</a:t>
            </a:r>
          </a:p>
          <a:p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Potential: $1.95M/year.</a:t>
            </a:r>
          </a:p>
        </p:txBody>
      </p:sp>
      <p:sp>
        <p:nvSpPr>
          <p:cNvPr id="27" name="Google Shape;164;p2">
            <a:extLst>
              <a:ext uri="{FF2B5EF4-FFF2-40B4-BE49-F238E27FC236}">
                <a16:creationId xmlns:a16="http://schemas.microsoft.com/office/drawing/2014/main" id="{11E5AA8B-7F97-BADB-C02C-2AFEA9CD3774}"/>
              </a:ext>
            </a:extLst>
          </p:cNvPr>
          <p:cNvSpPr>
            <a:spLocks noGrp="1"/>
          </p:cNvSpPr>
          <p:nvPr/>
        </p:nvSpPr>
        <p:spPr>
          <a:xfrm>
            <a:off x="8335220" y="5232816"/>
            <a:ext cx="30917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spAutoFit/>
          </a:bodyPr>
          <a:lstStyle/>
          <a:p>
            <a:pPr>
              <a:buNone/>
            </a:pPr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Reliable data matters most.</a:t>
            </a:r>
          </a:p>
          <a:p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Structure makes logic usable.</a:t>
            </a:r>
          </a:p>
          <a:p>
            <a:r>
              <a:rPr sz="1600">
                <a:solidFill>
                  <a:srgbClr val="002ECD"/>
                </a:solidFill>
                <a:latin typeface="Suzano Text Light"/>
                <a:ea typeface="Suzano Text Light"/>
                <a:cs typeface="Suzano Text Light"/>
              </a:rPr>
              <a:t>One interface serves many roles.</a:t>
            </a:r>
          </a:p>
        </p:txBody>
      </p:sp>
      <p:pic>
        <p:nvPicPr>
          <p:cNvPr id="3" name="MS_FOCUS_SCENARIO" descr="Scenario box in focus">
            <a:extLst>
              <a:ext uri="{FF2B5EF4-FFF2-40B4-BE49-F238E27FC236}">
                <a16:creationId xmlns:a16="http://schemas.microsoft.com/office/drawing/2014/main" id="{1CE1F801-D808-72F1-740F-0300D0813516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MS_FOCUS_CHALLENGE" descr="Challenge box in focus">
            <a:extLst>
              <a:ext uri="{FF2B5EF4-FFF2-40B4-BE49-F238E27FC236}">
                <a16:creationId xmlns:a16="http://schemas.microsoft.com/office/drawing/2014/main" id="{853D2782-DCAF-F691-AA5B-18A5EFF8A62D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MS_FOCUS_PROPOSAL" descr="Proposal box in focus">
            <a:extLst>
              <a:ext uri="{FF2B5EF4-FFF2-40B4-BE49-F238E27FC236}">
                <a16:creationId xmlns:a16="http://schemas.microsoft.com/office/drawing/2014/main" id="{41C54FB9-0A1C-9414-8992-6A3CBE8FB03A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MS_EVIDENCE_SCENARIO" descr="APACS, Rockwell, and PI interfaces">
            <a:extLst>
              <a:ext uri="{FF2B5EF4-FFF2-40B4-BE49-F238E27FC236}">
                <a16:creationId xmlns:a16="http://schemas.microsoft.com/office/drawing/2014/main" id="{3A5E2253-EAA6-3A2B-362A-FE546AA0254D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MS_EVIDENCE_CHALLENGE" descr="Centered Obsidian mill knowledge vault">
            <a:extLst>
              <a:ext uri="{FF2B5EF4-FFF2-40B4-BE49-F238E27FC236}">
                <a16:creationId xmlns:a16="http://schemas.microsoft.com/office/drawing/2014/main" id="{2C393B1B-580A-6B9C-427F-3D1F836A8384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MS_EVIDENCE_SIMULATOR" descr="Mill simulator actual versus predicted process data">
            <a:extLst>
              <a:ext uri="{FF2B5EF4-FFF2-40B4-BE49-F238E27FC236}">
                <a16:creationId xmlns:a16="http://schemas.microsoft.com/office/drawing/2014/main" id="{F0A27600-2BD4-B50F-D7CD-36219A6B05BC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0" name="MS_EVIDENCE_CONTROL_LOGIC" descr="Recovered mill control logic canvas">
            <a:extLst>
              <a:ext uri="{FF2B5EF4-FFF2-40B4-BE49-F238E27FC236}">
                <a16:creationId xmlns:a16="http://schemas.microsoft.com/office/drawing/2014/main" id="{CBF53874-7FDD-3258-E06D-E21F94A8AEC9}"/>
              </a:ext>
            </a:extLst>
          </p:cNvPr>
          <p:cNvPicPr>
            <a:picLocks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2" name="MS_EVIDENCE_LIVE_PI" descr="Working live PI prompt, trend, and response">
            <a:extLst>
              <a:ext uri="{FF2B5EF4-FFF2-40B4-BE49-F238E27FC236}">
                <a16:creationId xmlns:a16="http://schemas.microsoft.com/office/drawing/2014/main" id="{3C059D35-0A45-F0AC-E975-5FB628A6D866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MS_EVIDENCE_DEMO_FRAME" descr="Live local AI demonstration">
            <a:extLst>
              <a:ext uri="{FF2B5EF4-FFF2-40B4-BE49-F238E27FC236}">
                <a16:creationId xmlns:a16="http://schemas.microsoft.com/office/drawing/2014/main" id="{15571BEA-B022-4981-63B5-CF04C4217E91}"/>
              </a:ext>
            </a:extLst>
          </p:cNvPr>
          <p:cNvPicPr>
            <a:picLocks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5" name="MS_DEMO_LOOP_SHEET" descr="Loop-sheet retrieval demonstration">
            <a:hlinkClick r:id="" action="ppaction://media"/>
            <a:extLst>
              <a:ext uri="{FF2B5EF4-FFF2-40B4-BE49-F238E27FC236}">
                <a16:creationId xmlns:a16="http://schemas.microsoft.com/office/drawing/2014/main" id="{D760FD5B-00A0-5BA2-BBA3-12C2B3DBE49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3"/>
          <a:stretch>
            <a:fillRect/>
          </a:stretch>
        </p:blipFill>
        <p:spPr>
          <a:xfrm>
            <a:off x="1752600" y="1287780"/>
            <a:ext cx="9022080" cy="5074920"/>
          </a:xfrm>
          <a:prstGeom prst="rect">
            <a:avLst/>
          </a:prstGeom>
        </p:spPr>
      </p:pic>
      <p:pic>
        <p:nvPicPr>
          <p:cNvPr id="2" name="MS_DEMO_PI_GRAPH" descr="Live PI trend retrieval and graph demonstration">
            <a:hlinkClick r:id="" action="ppaction://media"/>
            <a:extLst>
              <a:ext uri="{FF2B5EF4-FFF2-40B4-BE49-F238E27FC236}">
                <a16:creationId xmlns:a16="http://schemas.microsoft.com/office/drawing/2014/main" id="{5F37DFE1-0229-25DD-2440-8B042083E9B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1752600" y="1287780"/>
            <a:ext cx="9022080" cy="5074920"/>
          </a:xfrm>
          <a:prstGeom prst="rect">
            <a:avLst/>
          </a:prstGeom>
        </p:spPr>
      </p:pic>
      <p:pic>
        <p:nvPicPr>
          <p:cNvPr id="21" name="MS_PERSISTENT_QR_SLIDE_2" descr="Scan for password-protected MillSight project materials">
            <a:extLst>
              <a:ext uri="{FF2B5EF4-FFF2-40B4-BE49-F238E27FC236}">
                <a16:creationId xmlns:a16="http://schemas.microsoft.com/office/drawing/2014/main" id="{A7732558-949B-8B43-E146-16F9FF6B4C7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648" y="182880"/>
            <a:ext cx="1060704" cy="1060704"/>
          </a:xfrm>
          <a:prstGeom prst="rect">
            <a:avLst/>
          </a:prstGeom>
        </p:spPr>
      </p:pic>
      <p:sp>
        <p:nvSpPr>
          <p:cNvPr id="39" name="MS_QR_PASSWORD_SLIDE_2">
            <a:extLst>
              <a:ext uri="{FF2B5EF4-FFF2-40B4-BE49-F238E27FC236}">
                <a16:creationId xmlns:a16="http://schemas.microsoft.com/office/drawing/2014/main" id="{62325AEC-B05B-CC65-68CC-739CD7FDF98A}"/>
              </a:ext>
            </a:extLst>
          </p:cNvPr>
          <p:cNvSpPr txBox="1"/>
          <p:nvPr/>
        </p:nvSpPr>
        <p:spPr>
          <a:xfrm>
            <a:off x="6743700" y="598170"/>
            <a:ext cx="1905000" cy="23083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r>
              <a:rPr lang="en-US" sz="1500" b="1">
                <a:solidFill>
                  <a:srgbClr val="0A35C7"/>
                </a:solidFill>
                <a:latin typeface="Suzano Text Light" panose="02010303030508060203" pitchFamily="2" charset="0"/>
              </a:rPr>
              <a:t>Password: suzano</a:t>
            </a:r>
          </a:p>
        </p:txBody>
      </p:sp>
    </p:spTree>
    <p:extLst>
      <p:ext uri="{BB962C8B-B14F-4D97-AF65-F5344CB8AC3E}">
        <p14:creationId xmlns:p14="http://schemas.microsoft.com/office/powerpoint/2010/main" val="2555658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8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4" dur="1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9" dur="10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85" dur="1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96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video>
              <p:cMediaNode vol="80000">
                <p:cTn id="97" fill="hold" display="0">
                  <p:stCondLst>
                    <p:cond delay="indefinite"/>
                  </p:stCondLst>
                </p:cTn>
                <p:tgtEl>
                  <p:spTgt spid="45"/>
                </p:tgtEl>
              </p:cMediaNode>
            </p:video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03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DocSecurity>0</DocSecurity>
  <PresentationFormat>Widescreen</PresentationFormat>
  <Paragraphs>61</Paragraphs>
  <Slides>2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Suzano Text Light</vt:lpstr>
      <vt:lpstr>Suzano Unicase XBold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ALEXANDER RIVERA</cp:lastModifiedBy>
  <cp:revision>4</cp:revision>
  <dcterms:created xsi:type="dcterms:W3CDTF">2026-07-22T20:12:31Z</dcterms:created>
  <dcterms:modified xsi:type="dcterms:W3CDTF">2026-07-23T15:51:17Z</dcterms:modified>
</cp:coreProperties>
</file>